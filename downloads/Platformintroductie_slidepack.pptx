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Welkom. Vandaag maken we kennis met het Marketing Platform Werkontwikkelbedrijven: wie we zijn, wat we samen doen en hoe je meedoet.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Korte agenda: waarom het platform bestaat, wat het is, wat we organiseren en hoe je meedoet.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Schets het probleem: iedereen communiceert los van elkaar, terwijl de opgave landelijk is. Samen bereiken we meer met hetzelfde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Definitie: het landelijke netwerk van communicatie- en marketingprofessionals van werkontwikkelbedrijven. Van leden, voor leden.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vaste categorieën, elk met eigen kleur: bijeenkomsten, workshops, deadlines en algemeen. Dit ritme zie je terug in de hele kalender.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Waar we nu staan in cijfers. Pas deze aan op de actuele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Concreet: dit staat er de komende weken op de kalender. Aanmelden kan direct via het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Voor professionals: netwerk, kennis en kant-en-klare middelen. Voor organisaties: meer zichtbaarheid tegen lagere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een lid aan het woord. Vervang de naam door een echt lid dat dit wil zeggen.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Afsluiting en oproep: sluit je aan, meld een activiteit aan of neem contact op. Ruimte voor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125" y="1808559"/>
            <a:ext cx="4095750" cy="34694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7153" y="5887641"/>
            <a:ext cx="1181354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112"/>
              </a:lnSpc>
              <a:buNone/>
            </a:pPr>
            <a:r>
              <a:rPr lang="en-US" sz="6600" b="1" spc="-66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Samen sterker zichtbaar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2974397" y="7106841"/>
            <a:ext cx="123390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3D46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met het Marketing Platform Werkontwikkelbedrijven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4817938" y="8135541"/>
            <a:ext cx="86521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Naam spreker · Marketing Platform Werkontwikkelbedrijven · datum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Waar we het over hebben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2695575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9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076450" y="2667000"/>
            <a:ext cx="844060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Waarom we samenwerken aan zichtbaarheid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1257300" y="3429000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9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076450" y="3400425"/>
            <a:ext cx="71497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 het Marketing Platform is en doet</a:t>
            </a:r>
            <a:endParaRPr lang="en-US" sz="2625" dirty="0"/>
          </a:p>
        </p:txBody>
      </p:sp>
      <p:sp>
        <p:nvSpPr>
          <p:cNvPr id="8" name="Text 6"/>
          <p:cNvSpPr/>
          <p:nvPr/>
        </p:nvSpPr>
        <p:spPr>
          <a:xfrm>
            <a:off x="1257300" y="4162425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9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076450" y="4133850"/>
            <a:ext cx="815918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 meedoen jou en je organisatie oplevert</a:t>
            </a:r>
            <a:endParaRPr lang="en-US" sz="2625" dirty="0"/>
          </a:p>
        </p:txBody>
      </p:sp>
      <p:sp>
        <p:nvSpPr>
          <p:cNvPr id="10" name="Text 8"/>
          <p:cNvSpPr/>
          <p:nvPr/>
        </p:nvSpPr>
        <p:spPr>
          <a:xfrm>
            <a:off x="1257300" y="4895850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9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076450" y="4867275"/>
            <a:ext cx="51953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Vragen en vervolgafspraken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Waarom we samenwerken aan zichtbaarheid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300" y="274320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667000"/>
            <a:ext cx="1265586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24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Elk werkontwikkelbedrijf vertelt zijn eigen verhaal, vaak met een kleine communicatieafdeling.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300" y="4095750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4019550"/>
            <a:ext cx="1265586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24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Landelijke thema's zoals de inclusieve arbeidsmarkt vragen om één herkenbaar geluid.</a:t>
            </a:r>
            <a:endParaRPr lang="en-US" sz="2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7300" y="5448300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0" y="5372100"/>
            <a:ext cx="1265586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24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Door kennis, kanalen en campagnes te delen bereiken we samen meer met hetzelfde budget.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62175" y="2557463"/>
            <a:ext cx="13963650" cy="517207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0875" y="3471863"/>
            <a:ext cx="476250" cy="476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90875" y="4319588"/>
            <a:ext cx="1309687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59"/>
              </a:lnSpc>
              <a:buNone/>
            </a:pPr>
            <a:r>
              <a:rPr lang="en-US" sz="4950" b="1" spc="-49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 het Marketing Platform is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3190875" y="5357813"/>
            <a:ext cx="1226343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24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Het landelijke netwerk van communicatie- en marketingprofessionals van werkontwikkelbedrijven. We delen kennis, tools en campagnes, en treden samen naar buiten. Van leden, voor leden.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 we samen organiseren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2628900"/>
            <a:ext cx="7715250" cy="2257425"/>
          </a:xfrm>
          <a:prstGeom prst="roundRect">
            <a:avLst>
              <a:gd name="adj" fmla="val 6751"/>
            </a:avLst>
          </a:prstGeom>
          <a:solidFill>
            <a:srgbClr val="F2E4F0"/>
          </a:solidFill>
          <a:ln/>
        </p:spPr>
      </p:sp>
      <p:sp>
        <p:nvSpPr>
          <p:cNvPr id="5" name="Shape 3"/>
          <p:cNvSpPr/>
          <p:nvPr/>
        </p:nvSpPr>
        <p:spPr>
          <a:xfrm>
            <a:off x="1752600" y="3048000"/>
            <a:ext cx="2667595" cy="409575"/>
          </a:xfrm>
          <a:prstGeom prst="roundRect">
            <a:avLst>
              <a:gd name="adj" fmla="val 50000"/>
            </a:avLst>
          </a:prstGeom>
          <a:solidFill>
            <a:srgbClr val="93398A"/>
          </a:solidFill>
          <a:ln/>
        </p:spPr>
      </p:sp>
      <p:sp>
        <p:nvSpPr>
          <p:cNvPr id="6" name="Text 4"/>
          <p:cNvSpPr/>
          <p:nvPr/>
        </p:nvSpPr>
        <p:spPr>
          <a:xfrm>
            <a:off x="1981200" y="3114675"/>
            <a:ext cx="2290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BIJEENKOMSTEN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2600" y="3629025"/>
            <a:ext cx="692639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Landelijke netwerkbijeenkomsten waar we elkaar ontmoeten en van elkaar leren.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15450" y="2628900"/>
            <a:ext cx="7715250" cy="2257425"/>
          </a:xfrm>
          <a:prstGeom prst="roundRect">
            <a:avLst>
              <a:gd name="adj" fmla="val 6751"/>
            </a:avLst>
          </a:prstGeom>
          <a:solidFill>
            <a:srgbClr val="EAF3E0"/>
          </a:solidFill>
          <a:ln/>
        </p:spPr>
      </p:sp>
      <p:sp>
        <p:nvSpPr>
          <p:cNvPr id="9" name="Shape 7"/>
          <p:cNvSpPr/>
          <p:nvPr/>
        </p:nvSpPr>
        <p:spPr>
          <a:xfrm>
            <a:off x="9810750" y="3048000"/>
            <a:ext cx="2179141" cy="409575"/>
          </a:xfrm>
          <a:prstGeom prst="roundRect">
            <a:avLst>
              <a:gd name="adj" fmla="val 50000"/>
            </a:avLst>
          </a:prstGeom>
          <a:solidFill>
            <a:srgbClr val="6BAC40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350" y="3114675"/>
            <a:ext cx="1798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0750" y="3629025"/>
            <a:ext cx="692639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Praktische workshops over kennis en tools, aangeboden door en voor leden.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57300" y="5229225"/>
            <a:ext cx="7715250" cy="2257425"/>
          </a:xfrm>
          <a:prstGeom prst="roundRect">
            <a:avLst>
              <a:gd name="adj" fmla="val 6751"/>
            </a:avLst>
          </a:prstGeom>
          <a:solidFill>
            <a:srgbClr val="FCEA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2600" y="5648325"/>
            <a:ext cx="1965871" cy="409575"/>
          </a:xfrm>
          <a:prstGeom prst="roundRect">
            <a:avLst>
              <a:gd name="adj" fmla="val 50000"/>
            </a:avLst>
          </a:prstGeom>
          <a:solidFill>
            <a:srgbClr val="E8702C"/>
          </a:solidFill>
          <a:ln/>
        </p:spPr>
      </p:sp>
      <p:sp>
        <p:nvSpPr>
          <p:cNvPr id="14" name="Text 12"/>
          <p:cNvSpPr/>
          <p:nvPr/>
        </p:nvSpPr>
        <p:spPr>
          <a:xfrm>
            <a:off x="1981200" y="5715000"/>
            <a:ext cx="15848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DEADLINES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52600" y="6229350"/>
            <a:ext cx="692639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Gezamenlijke campagnes en aanlevermomenten voor nieuws en actualiteit.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15450" y="5229225"/>
            <a:ext cx="7715250" cy="2257425"/>
          </a:xfrm>
          <a:prstGeom prst="roundRect">
            <a:avLst>
              <a:gd name="adj" fmla="val 6751"/>
            </a:avLst>
          </a:prstGeom>
          <a:solidFill>
            <a:srgbClr val="E4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810750" y="5648325"/>
            <a:ext cx="1906637" cy="40957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9350" y="5715000"/>
            <a:ext cx="15256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ALGEMEEN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10750" y="6229350"/>
            <a:ext cx="692639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Platformbrede zaken: de activiteitenkalender, huisstijl en gedeelde middelen.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Het platform in cijfers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E8702C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4238625"/>
            <a:ext cx="4914900" cy="2762250"/>
          </a:xfrm>
          <a:prstGeom prst="roundRect">
            <a:avLst>
              <a:gd name="adj" fmla="val 5517"/>
            </a:avLst>
          </a:prstGeom>
          <a:solidFill>
            <a:srgbClr val="FCEADF"/>
          </a:solidFill>
          <a:ln/>
        </p:spPr>
      </p:sp>
      <p:sp>
        <p:nvSpPr>
          <p:cNvPr id="5" name="Text 3"/>
          <p:cNvSpPr/>
          <p:nvPr/>
        </p:nvSpPr>
        <p:spPr>
          <a:xfrm>
            <a:off x="1577340" y="4867275"/>
            <a:ext cx="42748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890"/>
              </a:lnSpc>
              <a:buNone/>
            </a:pPr>
            <a:r>
              <a:rPr lang="en-US" sz="7800" b="1" dirty="0">
                <a:solidFill>
                  <a:srgbClr val="E87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577340" y="6048375"/>
            <a:ext cx="4274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aangesloten leden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86550" y="4238625"/>
            <a:ext cx="4914900" cy="2762250"/>
          </a:xfrm>
          <a:prstGeom prst="roundRect">
            <a:avLst>
              <a:gd name="adj" fmla="val 5517"/>
            </a:avLst>
          </a:prstGeom>
          <a:solidFill>
            <a:srgbClr val="FCEADF"/>
          </a:solidFill>
          <a:ln/>
        </p:spPr>
      </p:sp>
      <p:sp>
        <p:nvSpPr>
          <p:cNvPr id="8" name="Text 6"/>
          <p:cNvSpPr/>
          <p:nvPr/>
        </p:nvSpPr>
        <p:spPr>
          <a:xfrm>
            <a:off x="7006590" y="4867275"/>
            <a:ext cx="42748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890"/>
              </a:lnSpc>
              <a:buNone/>
            </a:pPr>
            <a:r>
              <a:rPr lang="en-US" sz="7800" b="1" dirty="0">
                <a:solidFill>
                  <a:srgbClr val="E87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7006590" y="6048375"/>
            <a:ext cx="4274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activiteiten per jaar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15800" y="4238625"/>
            <a:ext cx="4914900" cy="2762250"/>
          </a:xfrm>
          <a:prstGeom prst="roundRect">
            <a:avLst>
              <a:gd name="adj" fmla="val 5517"/>
            </a:avLst>
          </a:prstGeom>
          <a:solidFill>
            <a:srgbClr val="FCEADF"/>
          </a:solidFill>
          <a:ln/>
        </p:spPr>
      </p:sp>
      <p:sp>
        <p:nvSpPr>
          <p:cNvPr id="11" name="Text 9"/>
          <p:cNvSpPr/>
          <p:nvPr/>
        </p:nvSpPr>
        <p:spPr>
          <a:xfrm>
            <a:off x="12435840" y="4867275"/>
            <a:ext cx="42748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890"/>
              </a:lnSpc>
              <a:buNone/>
            </a:pPr>
            <a:r>
              <a:rPr lang="en-US" sz="7800" b="1" dirty="0">
                <a:solidFill>
                  <a:srgbClr val="E87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12435840" y="6048375"/>
            <a:ext cx="4274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gezamenlijke campagne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Eerstvolgende activiteiten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2619375"/>
            <a:ext cx="15773400" cy="1809750"/>
          </a:xfrm>
          <a:prstGeom prst="roundRect">
            <a:avLst>
              <a:gd name="adj" fmla="val 7368"/>
            </a:avLst>
          </a:prstGeom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425" y="2857500"/>
            <a:ext cx="1333500" cy="1333500"/>
          </a:xfrm>
          <a:prstGeom prst="roundRect">
            <a:avLst>
              <a:gd name="adj" fmla="val 8571"/>
            </a:avLst>
          </a:prstGeom>
          <a:solidFill>
            <a:srgbClr val="93398A"/>
          </a:solidFill>
          <a:ln/>
        </p:spPr>
      </p:sp>
      <p:sp>
        <p:nvSpPr>
          <p:cNvPr id="6" name="Text 4"/>
          <p:cNvSpPr/>
          <p:nvPr/>
        </p:nvSpPr>
        <p:spPr>
          <a:xfrm>
            <a:off x="1881783" y="3100388"/>
            <a:ext cx="6368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526084" y="3671888"/>
            <a:ext cx="1399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9925" y="3138488"/>
            <a:ext cx="119147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2475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Netwerkbijeenkomst najaar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3209925" y="3586163"/>
            <a:ext cx="119147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D46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Utrecht · aangeboden door een van onze leden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4422487" y="3319463"/>
            <a:ext cx="2217688" cy="409575"/>
          </a:xfrm>
          <a:prstGeom prst="roundRect">
            <a:avLst>
              <a:gd name="adj" fmla="val 50000"/>
            </a:avLst>
          </a:prstGeom>
          <a:solidFill>
            <a:srgbClr val="93398A"/>
          </a:solidFill>
          <a:ln/>
        </p:spPr>
      </p:sp>
      <p:sp>
        <p:nvSpPr>
          <p:cNvPr id="11" name="Text 9"/>
          <p:cNvSpPr/>
          <p:nvPr/>
        </p:nvSpPr>
        <p:spPr>
          <a:xfrm>
            <a:off x="14651087" y="3386138"/>
            <a:ext cx="1836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Bijeenkomsten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57300" y="4714875"/>
            <a:ext cx="15773400" cy="1809750"/>
          </a:xfrm>
          <a:prstGeom prst="roundRect">
            <a:avLst>
              <a:gd name="adj" fmla="val 7368"/>
            </a:avLst>
          </a:prstGeom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5425" y="4953000"/>
            <a:ext cx="1333500" cy="1333500"/>
          </a:xfrm>
          <a:prstGeom prst="roundRect">
            <a:avLst>
              <a:gd name="adj" fmla="val 8571"/>
            </a:avLst>
          </a:prstGeom>
          <a:solidFill>
            <a:srgbClr val="6BAC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9395" y="5195888"/>
            <a:ext cx="74161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1526084" y="5767388"/>
            <a:ext cx="1399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9925" y="5233988"/>
            <a:ext cx="124156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2475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storytelling voor werkontwikkelbedrijven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3209925" y="5681663"/>
            <a:ext cx="124156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D46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Zwolle · aangeboden door een van onze leden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4877901" y="5414963"/>
            <a:ext cx="1762274" cy="409575"/>
          </a:xfrm>
          <a:prstGeom prst="roundRect">
            <a:avLst>
              <a:gd name="adj" fmla="val 50000"/>
            </a:avLst>
          </a:prstGeom>
          <a:solidFill>
            <a:srgbClr val="6BAC40"/>
          </a:solidFill>
          <a:ln/>
        </p:spPr>
      </p:sp>
      <p:sp>
        <p:nvSpPr>
          <p:cNvPr id="19" name="Text 17"/>
          <p:cNvSpPr/>
          <p:nvPr/>
        </p:nvSpPr>
        <p:spPr>
          <a:xfrm>
            <a:off x="15106501" y="5481638"/>
            <a:ext cx="13812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57300" y="6810375"/>
            <a:ext cx="15773400" cy="1809750"/>
          </a:xfrm>
          <a:prstGeom prst="roundRect">
            <a:avLst>
              <a:gd name="adj" fmla="val 7368"/>
            </a:avLst>
          </a:prstGeom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5425" y="7048500"/>
            <a:ext cx="1333500" cy="1333500"/>
          </a:xfrm>
          <a:prstGeom prst="roundRect">
            <a:avLst>
              <a:gd name="adj" fmla="val 8571"/>
            </a:avLst>
          </a:prstGeom>
          <a:solidFill>
            <a:srgbClr val="E8702C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995" y="7291388"/>
            <a:ext cx="28441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18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50" dirty="0"/>
          </a:p>
        </p:txBody>
      </p:sp>
      <p:sp>
        <p:nvSpPr>
          <p:cNvPr id="23" name="Text 21"/>
          <p:cNvSpPr/>
          <p:nvPr/>
        </p:nvSpPr>
        <p:spPr>
          <a:xfrm>
            <a:off x="1706463" y="7862888"/>
            <a:ext cx="9874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oktober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9925" y="7329488"/>
            <a:ext cx="125802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2475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Deadline campagnemateriaal Week van de Inclusieve Arbeidsmarkt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3209925" y="7777163"/>
            <a:ext cx="125802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D46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Online · aanleveren bij het bestuur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5027473" y="7510462"/>
            <a:ext cx="1612702" cy="409575"/>
          </a:xfrm>
          <a:prstGeom prst="roundRect">
            <a:avLst>
              <a:gd name="adj" fmla="val 50000"/>
            </a:avLst>
          </a:prstGeom>
          <a:solidFill>
            <a:srgbClr val="E8702C"/>
          </a:solidFill>
          <a:ln/>
        </p:spPr>
      </p:sp>
      <p:sp>
        <p:nvSpPr>
          <p:cNvPr id="27" name="Text 25"/>
          <p:cNvSpPr/>
          <p:nvPr/>
        </p:nvSpPr>
        <p:spPr>
          <a:xfrm>
            <a:off x="15256073" y="7577137"/>
            <a:ext cx="12317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Deadlines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1047750"/>
            <a:ext cx="1735074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7"/>
              </a:lnSpc>
              <a:buNone/>
            </a:pPr>
            <a:r>
              <a:rPr lang="en-US" sz="4800" b="1" spc="-48" kern="0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 meedoen oplevert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57300" y="2009775"/>
            <a:ext cx="1028700" cy="85725"/>
          </a:xfrm>
          <a:prstGeom prst="roundRect">
            <a:avLst>
              <a:gd name="adj" fmla="val 50000"/>
            </a:avLst>
          </a:prstGeom>
          <a:solidFill>
            <a:srgbClr val="2B9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2628900"/>
            <a:ext cx="7677150" cy="2914650"/>
          </a:xfrm>
          <a:prstGeom prst="roundRect">
            <a:avLst>
              <a:gd name="adj" fmla="val 5229"/>
            </a:avLst>
          </a:prstGeom>
          <a:solidFill>
            <a:srgbClr val="E4F1F8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143250"/>
            <a:ext cx="71875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Voor jou als professional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28800" y="3771900"/>
            <a:ext cx="673017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Een landelijk netwerk van vakgenoten, workshops en kant-en-klare campagnemiddelen die je direct kunt inzetten.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53550" y="2628900"/>
            <a:ext cx="7677150" cy="2914650"/>
          </a:xfrm>
          <a:prstGeom prst="roundRect">
            <a:avLst>
              <a:gd name="adj" fmla="val 5229"/>
            </a:avLst>
          </a:prstGeom>
          <a:solidFill>
            <a:srgbClr val="E4F1F8"/>
          </a:solidFill>
          <a:ln/>
        </p:spPr>
      </p:sp>
      <p:sp>
        <p:nvSpPr>
          <p:cNvPr id="8" name="Text 6"/>
          <p:cNvSpPr/>
          <p:nvPr/>
        </p:nvSpPr>
        <p:spPr>
          <a:xfrm>
            <a:off x="9925050" y="3143250"/>
            <a:ext cx="71875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Voor je organisatie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25050" y="3771900"/>
            <a:ext cx="673017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dirty="0">
                <a:solidFill>
                  <a:srgbClr val="1820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Meer zichtbaarheid bij gemeenten, werkgevers en kandidaten, zonder extra communicatiebudget of extra mensen.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57300" y="9539288"/>
            <a:ext cx="7621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Kennismaking Marketing Platform Werkontwikkelbedrijven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941" y="9486900"/>
            <a:ext cx="449759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" y="3300413"/>
            <a:ext cx="15582900" cy="3686175"/>
          </a:xfrm>
          <a:prstGeom prst="roundRect">
            <a:avLst>
              <a:gd name="adj" fmla="val 4134"/>
            </a:avLst>
          </a:prstGeom>
          <a:solidFill>
            <a:srgbClr val="E8EAEC"/>
          </a:solidFill>
          <a:ln/>
        </p:spPr>
      </p:sp>
      <p:sp>
        <p:nvSpPr>
          <p:cNvPr id="3" name="Text 1"/>
          <p:cNvSpPr/>
          <p:nvPr/>
        </p:nvSpPr>
        <p:spPr>
          <a:xfrm>
            <a:off x="2381250" y="4157663"/>
            <a:ext cx="1393126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56"/>
              </a:lnSpc>
              <a:buNone/>
            </a:pPr>
            <a:r>
              <a:rPr lang="en-US" sz="3750" b="1" dirty="0">
                <a:solidFill>
                  <a:srgbClr val="182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“Samen laten we zien wat werkontwikkelbedrijven elke dag betekenen voor mensen en voor de regio.”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2381250" y="5815013"/>
            <a:ext cx="14878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D46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Naam · organisatie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175237">
            <a:off x="4202201" y="2714452"/>
            <a:ext cx="517891" cy="517891"/>
          </a:xfrm>
          <a:prstGeom prst="roundRect">
            <a:avLst>
              <a:gd name="adj" fmla="val 17500"/>
            </a:avLst>
          </a:prstGeom>
          <a:solidFill>
            <a:srgbClr val="93398A">
              <a:alpha val="7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898404">
            <a:off x="12680547" y="3178402"/>
            <a:ext cx="445821" cy="445821"/>
          </a:xfrm>
          <a:prstGeom prst="roundRect">
            <a:avLst>
              <a:gd name="adj" fmla="val 17500"/>
            </a:avLst>
          </a:prstGeom>
          <a:solidFill>
            <a:srgbClr val="2B90C8">
              <a:alpha val="9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6292101">
            <a:off x="6368637" y="6169775"/>
            <a:ext cx="355154" cy="355154"/>
          </a:xfrm>
          <a:prstGeom prst="roundRect">
            <a:avLst>
              <a:gd name="adj" fmla="val 17500"/>
            </a:avLst>
          </a:prstGeom>
          <a:solidFill>
            <a:srgbClr val="6BAC40">
              <a:alpha val="9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4449682">
            <a:off x="10264282" y="5595696"/>
            <a:ext cx="249576" cy="249576"/>
          </a:xfrm>
          <a:prstGeom prst="roundRect">
            <a:avLst>
              <a:gd name="adj" fmla="val 17500"/>
            </a:avLst>
          </a:prstGeom>
          <a:solidFill>
            <a:srgbClr val="E8702C">
              <a:alpha val="7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99221" y="1864851"/>
            <a:ext cx="11089402" cy="6508571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-633794">
            <a:off x="8379650" y="3518057"/>
            <a:ext cx="1528395" cy="129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2026-08-01T23:18:43Z</dcterms:created>
  <dcterms:modified xsi:type="dcterms:W3CDTF">2026-08-01T23:18:43Z</dcterms:modified>
</cp:coreProperties>
</file>